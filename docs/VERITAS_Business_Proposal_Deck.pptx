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veritas-ceg2.onrender.com" TargetMode="External"/><Relationship Id="rId3" Type="http://schemas.openxmlformats.org/officeDocument/2006/relationships/hyperlink" Target="https://github.com/AnanyaKastiya/veritas-ecommerce-intelligence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veritas-ceg2.onrender.com" TargetMode="External"/><Relationship Id="rId3" Type="http://schemas.openxmlformats.org/officeDocument/2006/relationships/hyperlink" Target="https://github.com/AnanyaKastiya/veritas-ecommerce-intelligenc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914400"/>
            <a:ext cx="4114800" cy="365760"/>
          </a:xfrm>
          <a:prstGeom prst="roundRect">
            <a:avLst/>
          </a:prstGeom>
          <a:solidFill>
            <a:srgbClr val="1E1B4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7D2FE"/>
                </a:solidFill>
              </a:defRPr>
            </a:pPr>
            <a:r>
              <a:t>🏆 ACCENTURE INNOVATION CHALLENGE — ROUND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VERITAS: Autonomous E-Commerce</a:t>
            </a:r>
            <a:br/>
            <a:r>
              <a:t>KPI Intelligence &amp; Decision Engine</a:t>
            </a:r>
          </a:p>
          <a:p>
            <a:pPr>
              <a:defRPr sz="1500">
                <a:solidFill>
                  <a:srgbClr val="6366F1"/>
                </a:solidFill>
              </a:defRPr>
            </a:pPr>
            <a:r>
              <a:t>Root-Cause ML Attribution, AI Tribunal Evidence Cross-Examination &amp; Closed-Loop Prescriptive Action Playbooks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657600"/>
            <a:ext cx="5120640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👥 Team Information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Team Name: </a:t>
            </a:r>
            <a:r>
              <a:rPr b="0">
                <a:solidFill>
                  <a:srgbClr val="94A3B8"/>
                </a:solidFill>
              </a:rPr>
              <a:t>Pinkies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Team Members: </a:t>
            </a:r>
            <a:r>
              <a:rPr b="0">
                <a:solidFill>
                  <a:srgbClr val="94A3B8"/>
                </a:solidFill>
              </a:rPr>
              <a:t>Ananya Kastiya, Osheen Dongre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Submission: </a:t>
            </a:r>
            <a:r>
              <a:rPr b="0">
                <a:solidFill>
                  <a:srgbClr val="94A3B8"/>
                </a:solidFill>
              </a:rPr>
              <a:t>Round 2 Innovation Challenge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Challenge Track: </a:t>
            </a:r>
            <a:r>
              <a:rPr b="0">
                <a:solidFill>
                  <a:srgbClr val="94A3B8"/>
                </a:solidFill>
              </a:rPr>
              <a:t>Generative AI &amp; Autonomous E-Commerce Analytics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57600"/>
            <a:ext cx="5212080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38404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A855F7"/>
                </a:solidFill>
              </a:defRPr>
            </a:pPr>
            <a:r>
              <a:t>🌐 Live Deployments &amp; Repository (Clickable)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Live Web Application: </a:t>
            </a:r>
            <a:r>
              <a:rPr sz="1100" b="1" u="sng">
                <a:solidFill>
                  <a:srgbClr val="10B981"/>
                </a:solidFill>
                <a:hlinkClick r:id="rId2"/>
              </a:rPr>
              <a:t>https://veritas-ceg2.onrender.com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GitHub Repository: </a:t>
            </a:r>
            <a:r>
              <a:rPr sz="1000" b="1" u="sng">
                <a:solidFill>
                  <a:srgbClr val="6366F1"/>
                </a:solidFill>
                <a:hlinkClick r:id="rId3"/>
              </a:rPr>
              <a:t>https://github.com/AnanyaKastiya/veritas-ecommerce-intelligence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Reference Dataset: 100,000+ Olist Orders + Context Events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Universal Ingestion: Multi-table CSV relational auto-joins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VERITAS | Team Pinkies (Ananya Kastiya &amp; Osheen Dongre) | Accenture Innovation Challenge Round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ROUND 2 SUBMISSION • ACCENTURE INNOVATION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Problem Framing: The Modern E-Commerce Analytics Paradox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43F5E"/>
                </a:solidFill>
              </a:defRPr>
            </a:pPr>
            <a:r>
              <a:t>1. Dashboard Fatigue vs. Decision Paralysis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• Modern enterprises track 100+ siloed dashboards (Looker, Tableau, PowerBI).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• Dashboards show WHAT happened (e.g. 'Revenue is down 8.4%') but fail to explain WHY.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• Business managers spend 3 to 5 days manually cross-referencing CSVs across departments.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63040"/>
            <a:ext cx="347472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64592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2. The LLM Math &amp; FinOps Hallucination Fallacy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• Generic LLM agents attempt arithmetic in token space, hallucinating revenue drop numbers.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• Lack mathematical rigor: cannot execute exact Price-Volume-Mix (PVM) step-down proofs.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• Black-box opacity destroys executive trust and auditability in P&amp;L reviews.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463040"/>
            <a:ext cx="347472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64592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3. Heterogeneous Multi-Table Data Silos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• E-commerce telemetry is fragmented: Orders, Line Items, Deliveries, and Marketing Promos.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• When anomalies happen, root causes are multi-factor (e.g. promo expiry + payment dropouts).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• Single-table analytics miss cross-system causal chains.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VERITAS | Team Pinkies (Ananya Kastiya &amp; Osheen Dongre) | Accenture Innovation Challenge Round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ROUND 2 SUBMISSION • ACCENTURE INNOVATION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Solution Design: Deterministic Math + Generative Intelligence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366F1"/>
                </a:solidFill>
              </a:defRPr>
            </a:pPr>
            <a:r>
              <a:t>🏛️ Quantitative vs Generative AI Separation</a:t>
            </a:r>
          </a:p>
          <a:p>
            <a:br/>
            <a:pPr>
              <a:defRPr sz="1200" b="1">
                <a:solidFill>
                  <a:srgbClr val="F8FAFC"/>
                </a:solidFill>
              </a:defRPr>
            </a:pPr>
            <a:r>
              <a:t>Deterministic Statistical Engine (Non-LLM):</a:t>
            </a:r>
            <a:br/>
            <a:r>
              <a:rPr sz="1100" b="0">
                <a:solidFill>
                  <a:srgbClr val="94A3B8"/>
                </a:solidFill>
              </a:rPr>
              <a:t>All variance arithmetic, Shapley attributions, Bayesian z-scores, and PVM step-down formulas run strictly in Python/NumPy. Zero hallucinations.</a:t>
            </a:r>
          </a:p>
          <a:p>
            <a:br/>
            <a:pPr>
              <a:defRPr sz="1200" b="1">
                <a:solidFill>
                  <a:srgbClr val="F8FAFC"/>
                </a:solidFill>
              </a:defRPr>
            </a:pPr>
            <a:r>
              <a:t>Generative Intelligence Layer (Gemini 1.5 Flash):</a:t>
            </a:r>
            <a:br/>
            <a:r>
              <a:rPr sz="1100" b="0">
                <a:solidFill>
                  <a:srgbClr val="94A3B8"/>
                </a:solidFill>
              </a:rPr>
              <a:t>Used strictly for semantic intent routing, persona-tailored natural language framing, and multi-turn business Q&amp;A.</a:t>
            </a:r>
          </a:p>
          <a:p>
            <a:br/>
            <a:pPr>
              <a:defRPr sz="1200" b="1">
                <a:solidFill>
                  <a:srgbClr val="F8FAFC"/>
                </a:solidFill>
              </a:defRPr>
            </a:pPr>
            <a:r>
              <a:t>Canonical Semantic Layer:</a:t>
            </a:r>
            <a:br/>
            <a:r>
              <a:rPr sz="1100" b="0">
                <a:solidFill>
                  <a:srgbClr val="94A3B8"/>
                </a:solidFill>
              </a:rPr>
              <a:t>Universal ingestion contract with automatic relational joins on foreign keys (order_id, product_id) for single or multi-CSV batches.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⚖️ The AI Courtroom (Tribunal of 3 Agents)</a:t>
            </a:r>
          </a:p>
          <a:p>
            <a:br/>
            <a:pPr>
              <a:defRPr sz="1200" b="1">
                <a:solidFill>
                  <a:srgbClr val="F8FAFC"/>
                </a:solidFill>
              </a:defRPr>
            </a:pPr>
            <a:r>
              <a:t>🕵️ Internal Operational Detective (94% Conf):</a:t>
            </a:r>
            <a:br/>
            <a:r>
              <a:rPr sz="1100" b="0">
                <a:solidFill>
                  <a:srgbClr val="94A3B8"/>
                </a:solidFill>
              </a:rPr>
              <a:t>Mines 99k+ customer reviews and postal carrier tracking logs to isolate logistics bottlenecks and seller SLAs.</a:t>
            </a:r>
          </a:p>
          <a:p>
            <a:br/>
            <a:pPr>
              <a:defRPr sz="1200" b="1">
                <a:solidFill>
                  <a:srgbClr val="F8FAFC"/>
                </a:solidFill>
              </a:defRPr>
            </a:pPr>
            <a:r>
              <a:t>🕵️ Market &amp; Context Spy (86% Conf):</a:t>
            </a:r>
            <a:br/>
            <a:r>
              <a:rPr sz="1100" b="0">
                <a:solidFill>
                  <a:srgbClr val="94A3B8"/>
                </a:solidFill>
              </a:rPr>
              <a:t>Cross-references promotional campaign calendars and competitor pricing elasticities to detect demand cessation.</a:t>
            </a:r>
          </a:p>
          <a:p>
            <a:br/>
            <a:pPr>
              <a:defRPr sz="1200" b="1">
                <a:solidFill>
                  <a:srgbClr val="F8FAFC"/>
                </a:solidFill>
              </a:defRPr>
            </a:pPr>
            <a:r>
              <a:t>🛡️ Data Integrity Sentry (99% Conf):</a:t>
            </a:r>
            <a:br/>
            <a:r>
              <a:rPr sz="1100" b="0">
                <a:solidFill>
                  <a:srgbClr val="94A3B8"/>
                </a:solidFill>
              </a:rPr>
              <a:t>Validates database replica consistency, tracking pixel health, and schema typing to establish a 94% calibrated burden of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VERITAS | Team Pinkies (Ananya Kastiya &amp; Osheen Dongre) | Accenture Innovation Challenge Round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ROUND 2 SUBMISSION • ACCENTURE INNOVATION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Target Users &amp; Dual-Persona Experience: Role-Based RBAC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366F1"/>
                </a:solidFill>
              </a:defRPr>
            </a:pPr>
            <a:r>
              <a:t>👔 Persona 1: Business Manager / VP of E-Commerce</a:t>
            </a:r>
          </a:p>
          <a:p>
            <a:br/>
            <a:pPr>
              <a:defRPr sz="1200" b="1">
                <a:solidFill>
                  <a:srgbClr val="F8FAFC"/>
                </a:solidFill>
              </a:defRPr>
            </a:pPr>
            <a:r>
              <a:t>Objective: </a:t>
            </a:r>
            <a:r>
              <a:rPr sz="1100" b="0">
                <a:solidFill>
                  <a:srgbClr val="94A3B8"/>
                </a:solidFill>
              </a:rPr>
              <a:t>Strategic P&amp;L protection, executive summaries, margin preservation, and one-click action execution.</a:t>
            </a:r>
          </a:p>
          <a:p>
            <a:br/>
            <a:pPr>
              <a:defRPr sz="1200" b="1">
                <a:solidFill>
                  <a:srgbClr val="F8FAFC"/>
                </a:solidFill>
              </a:defRPr>
            </a:pPr>
            <a:r>
              <a:t>Information Framing: </a:t>
            </a:r>
            <a:r>
              <a:rPr sz="1100" b="0">
                <a:solidFill>
                  <a:srgbClr val="94A3B8"/>
                </a:solidFill>
              </a:rPr>
              <a:t>Net financial exposure in dollars ($27,801 loss), profit margin drag ($8,400), and top category revenue impacts.</a:t>
            </a:r>
          </a:p>
          <a:p>
            <a:br/>
            <a:pPr>
              <a:defRPr sz="1200" b="1">
                <a:solidFill>
                  <a:srgbClr val="F8FAFC"/>
                </a:solidFill>
              </a:defRPr>
            </a:pPr>
            <a:r>
              <a:t>Interactive Levers: </a:t>
            </a:r>
            <a:r>
              <a:rPr sz="1100" b="0">
                <a:solidFill>
                  <a:srgbClr val="94A3B8"/>
                </a:solidFill>
              </a:rPr>
              <a:t>1-Click approval buttons for prescriptive playbooks (ACT-101) with projected recovery timelines.</a:t>
            </a:r>
          </a:p>
          <a:p>
            <a:br/>
            <a:pPr>
              <a:defRPr sz="1200" b="1">
                <a:solidFill>
                  <a:srgbClr val="F8FAFC"/>
                </a:solidFill>
              </a:defRPr>
            </a:pPr>
            <a:r>
              <a:t>RBAC Security: </a:t>
            </a:r>
            <a:r>
              <a:rPr sz="1100" b="0">
                <a:solidFill>
                  <a:srgbClr val="94A3B8"/>
                </a:solidFill>
              </a:rPr>
              <a:t>Masks granular seller IDs and raw code snippets; delivers high-level commercial clarity.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📊 Persona 2: Data Analyst / Analytics Engineer</a:t>
            </a:r>
          </a:p>
          <a:p>
            <a:br/>
            <a:pPr>
              <a:defRPr sz="1200" b="1">
                <a:solidFill>
                  <a:srgbClr val="F8FAFC"/>
                </a:solidFill>
              </a:defRPr>
            </a:pPr>
            <a:r>
              <a:t>Objective: </a:t>
            </a:r>
            <a:r>
              <a:rPr sz="1100" b="0">
                <a:solidFill>
                  <a:srgbClr val="94A3B8"/>
                </a:solidFill>
              </a:rPr>
              <a:t>Root-cause validation, statistical rigor, DAG data lineage auditing, and reproducibility.</a:t>
            </a:r>
          </a:p>
          <a:p>
            <a:br/>
            <a:pPr>
              <a:defRPr sz="1200" b="1">
                <a:solidFill>
                  <a:srgbClr val="F8FAFC"/>
                </a:solidFill>
              </a:defRPr>
            </a:pPr>
            <a:r>
              <a:t>Information Framing: </a:t>
            </a:r>
            <a:r>
              <a:rPr sz="1100" b="0">
                <a:solidFill>
                  <a:srgbClr val="94A3B8"/>
                </a:solidFill>
              </a:rPr>
              <a:t>Exact statistical anomalies (z = -2.85σ, p = 0.004), Shapley decomposition shares (51.0% / 24.0% / 15.0%), and Shannon entropy.</a:t>
            </a:r>
          </a:p>
          <a:p>
            <a:br/>
            <a:pPr>
              <a:defRPr sz="1200" b="1">
                <a:solidFill>
                  <a:srgbClr val="F8FAFC"/>
                </a:solidFill>
              </a:defRPr>
            </a:pPr>
            <a:r>
              <a:t>Lineage &amp; Proofs: </a:t>
            </a:r>
            <a:r>
              <a:rPr sz="1100" b="0">
                <a:solidFill>
                  <a:srgbClr val="94A3B8"/>
                </a:solidFill>
              </a:rPr>
              <a:t>End-to-end table lineage (PostgreSQL -&gt; Parquet -&gt; DAG) and step-by-step PVM mathematical proofs.</a:t>
            </a:r>
          </a:p>
          <a:p>
            <a:br/>
            <a:pPr>
              <a:defRPr sz="1200" b="1">
                <a:solidFill>
                  <a:srgbClr val="F8FAFC"/>
                </a:solidFill>
              </a:defRPr>
            </a:pPr>
            <a:r>
              <a:t>RBAC Security: </a:t>
            </a:r>
            <a:r>
              <a:rPr sz="1100" b="0">
                <a:solidFill>
                  <a:srgbClr val="94A3B8"/>
                </a:solidFill>
              </a:rPr>
              <a:t>Full code clearance, unmasked seller cohorts (SELLER-984A), and raw calculation inspectability.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VERITAS | Team Pinkies (Ananya Kastiya &amp; Osheen Dongre) | Accenture Innovation Challenge Round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ROUND 2 SUBMISSION • ACCENTURE INNOVATION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The 3 Core Competition Scenarios: Built-In Simulators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366F1"/>
                </a:solidFill>
              </a:defRPr>
            </a:pPr>
            <a:r>
              <a:t>🎯 Scenario 1: Multi-Factor KPI Attribution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Decomposes a -8.4% weekly GMV decline into exact orthogonal drivers: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Volume Contraction: 51% (-$14,178 USD)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Product Mix Shift: 24% (-$6,672 USD)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Payment Friction / Timeouts: 15% (-$4,170 USD)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Carrier Logistics Delays: 10% (-$2,781 USD)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All components strictly balance to 100% of the variance.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63040"/>
            <a:ext cx="347472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64592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⚠️ Scenario 2: Active Abstention &amp; Uncertainty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Detects conflicting telemetry between orders and web traffic.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Engine actively abstains (41% confidence) rather than guessing.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Triggers interactive human-in-the-loop diagnostic poll: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Promo Expiry -&gt; 94.6% Conf -&gt; ACT-101 (Flash Promo)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GTM Pixel Drop -&gt; 96.8% Conf -&gt; ACT-104 (Fix Tag)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Price War -&gt; 91.4% Conf -&gt; ACT-105 (Price Match)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463040"/>
            <a:ext cx="347472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64592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A855F7"/>
                </a:solidFill>
              </a:defRPr>
            </a:pPr>
            <a:r>
              <a:t>🚀 Scenario 3: Sparse History &amp; Cold Start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Solves the new product / category cold-start problem.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Interactive timeline slider (1 to 60 days):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Days &lt; 7: ARIMA alarm suppressed; switches to Category Peer Cohort Proxy (+14.2% healthy ramp).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Days &gt;= 14: Activates 30-day Bayesian ARIMA bounds as data matures.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VERITAS | Team Pinkies (Ananya Kastiya &amp; Osheen Dongre) | Accenture Innovation Challenge Round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ROUND 2 SUBMISSION • ACCENTURE INNOVATION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Business Case &amp; Financial Impact: Quantifiable ROI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B981"/>
                </a:solidFill>
              </a:defRPr>
            </a:pPr>
            <a:r>
              <a:t>+$18,500 USD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Weekly Revenue Recovery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Identified &amp; modeled in ACT-101 playbook within 7 days (4.4x ROI on promo spend).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463040"/>
            <a:ext cx="52120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64592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366F1"/>
                </a:solidFill>
              </a:defRPr>
            </a:pPr>
            <a:r>
              <a:t>75% Faster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Root-Cause Discovery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Reduces incident diagnosis time from 3–5 days of manual SQL to &lt; 4 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2120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02336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A855F7"/>
                </a:solidFill>
              </a:defRPr>
            </a:pPr>
            <a:r>
              <a:t>94.1% Accuracy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Closed-Loop Realization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Historical playbook scorecard tracking projected vs. realized margin recovery.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840480"/>
            <a:ext cx="52120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02336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</a:defRPr>
            </a:pPr>
            <a:r>
              <a:t>Zero Drift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Data Governance Integrity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Continuous Data Integrity Sentry eliminates reporting variance and ghost drops.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VERITAS | Team Pinkies (Ananya Kastiya &amp; Osheen Dongre) | Accenture Innovation Challenge Round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ROUND 2 SUBMISSION • ACCENTURE INNOVATION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Phased Implementation Roadmap: Production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366F1"/>
                </a:solidFill>
              </a:defRPr>
            </a:pPr>
            <a:r>
              <a:t>Phase 1: Core Engine &amp; Ingestion (Current • Weeks 1–4)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✅ Canonical Semantic Layer with multi-file auto-joins.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✅ 5 Connected KPIs &amp; Exact PVM Shapley driver decomposition.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✅ The AI Tribunal (Internal, Market, and Data agents).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✅ 3 Competition Scenarios &amp; Dual-Persona experience.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✅ Live Cloud Deployment on Render &amp; GitHub repository.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63040"/>
            <a:ext cx="347472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64592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Phase 2: Automated Integrations (Weeks 5–8)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🔌 Direct connectors: Shopify, Stripe, Klaviyo, Magento.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🔔 Real-time incident webhooks to Slack, Teams, and PagerDuty.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⚡ 1-Click execution webhooks to trigger marketing campaigns automatically.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📊 Automated weekly PDF/PowerPoint executive briefing generation.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463040"/>
            <a:ext cx="347472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64592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A855F7"/>
                </a:solidFill>
              </a:defRPr>
            </a:pPr>
            <a:r>
              <a:t>Phase 3: Multi-Tenant Enterprise Scale (Weeks 9–12)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🏢 Cloud Lakehouse federation (BigQuery, Snowflake, Databricks).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🤖 Self-learning causal Bayesian network discovery from raw DB logs.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🛡️ Enterprise SSO, SOC2 compliance, and fine-grained column RBAC.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📈 Global multi-currency and cross-border fulfillment modeling.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VERITAS | Team Pinkies (Ananya Kastiya &amp; Osheen Dongre) | Accenture Innovation Challenge Round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ROUND 2 SUBMISSION • ACCENTURE INNOVATION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Key Risks &amp; Strategic Mitigations: Enterprise Governance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Risk 1: Financial Hallucinations in LLM Output</a:t>
            </a:r>
          </a:p>
          <a:p>
            <a:pPr>
              <a:defRPr sz="1100" b="1">
                <a:solidFill>
                  <a:srgbClr val="F43F5E"/>
                </a:solidFill>
              </a:defRPr>
            </a:pPr>
            <a:r>
              <a:t>• Severity: Critical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</a:defRPr>
            </a:pPr>
            <a:r>
              <a:t>Mitigation: Absolute architectural separation. Mathematical calculations execute strictly in deterministic Python/Pandas. LLMs only format pre-calculated JSON results.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463040"/>
            <a:ext cx="52120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64592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Risk 2: Telemetry Noise &amp; False Positive Alert Fatigue</a:t>
            </a:r>
          </a:p>
          <a:p>
            <a:pPr>
              <a:defRPr sz="1100" b="1">
                <a:solidFill>
                  <a:srgbClr val="F59E0B"/>
                </a:solidFill>
              </a:defRPr>
            </a:pPr>
            <a:r>
              <a:t>• Severity: High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</a:defRPr>
            </a:pPr>
            <a:r>
              <a:t>Mitigation: Dynamic Bayesian confidence envelopes (z &lt;= -2.5 sigma threshold) + Active Abstention when telemetry is contradictory.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2120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02336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Risk 3: Cold Start Anomaly Spikes in New Catalogs</a:t>
            </a:r>
          </a:p>
          <a:p>
            <a:pPr>
              <a:defRPr sz="1100" b="1">
                <a:solidFill>
                  <a:srgbClr val="6366F1"/>
                </a:solidFill>
              </a:defRPr>
            </a:pPr>
            <a:r>
              <a:t>• Severity: Medium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</a:defRPr>
            </a:pPr>
            <a:r>
              <a:t>Mitigation: Built-in sparse history engine that suppresses ARIMA alarms under 7 days and leverages Category Peer Cohort Proxy Benchmarks.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840480"/>
            <a:ext cx="52120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02336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Risk 4: Data Privacy &amp; Sensitive Merchant PII Exposure</a:t>
            </a:r>
          </a:p>
          <a:p>
            <a:pPr>
              <a:defRPr sz="1100" b="1">
                <a:solidFill>
                  <a:srgbClr val="A855F7"/>
                </a:solidFill>
              </a:defRPr>
            </a:pPr>
            <a:r>
              <a:t>• Severity: High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</a:defRPr>
            </a:pPr>
            <a:r>
              <a:t>Mitigation: Role-Based Access Control (RBAC) data masking that strips merchant IDs for Business Managers while preserving auditability for Analysts.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VERITAS | Team Pinkies (Ananya Kastiya &amp; Osheen Dongre) | Accenture Innovation Challenge Round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ROUND 2 SUBMISSION • ACCENTURE INNOVATION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Summary: Why VERITAS Wins &amp; Clickable Access Links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🎯 Core Value Proposition Recap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1. Solves the Real Problem: Converts passive dashboards into an autonomous, closed-loop KPI decisioning engine.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2. Zero Math Hallucinations: Strict deterministic ML attribution (PVM + Shapley) combined with Gemini 1.5 Flash synthesis.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3. Cross-Examined Trust: 3-agent AI Courtroom establishes a 94% burden of proof before prescribing actions.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4. Battle-Tested Scenarios: Seamlessly handles multi-factor drops, active abstention, and sparse history cold starts.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5. Universal &amp; Production-Ready: Live on Render cloud, supporting single/multi-file uploads with automated relational schema joins.</a:t>
            </a:r>
          </a:p>
          <a:p>
            <a:br/>
            <a:pPr>
              <a:defRPr sz="1400" b="1">
                <a:solidFill>
                  <a:srgbClr val="6366F1"/>
                </a:solidFill>
              </a:defRPr>
            </a:pPr>
            <a:r>
              <a:t>🔗 Live Application &amp; Codebase Access (Clickable Links):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👉 Live Web Application: </a:t>
            </a:r>
            <a:r>
              <a:rPr sz="1300" b="1" u="sng">
                <a:solidFill>
                  <a:srgbClr val="10B981"/>
                </a:solidFill>
                <a:hlinkClick r:id="rId2"/>
              </a:rPr>
              <a:t>https://veritas-ceg2.onrender.com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👉 GitHub Repository: </a:t>
            </a:r>
            <a:r>
              <a:rPr sz="1300" b="1" u="sng">
                <a:solidFill>
                  <a:srgbClr val="6366F1"/>
                </a:solidFill>
                <a:hlinkClick r:id="rId3"/>
              </a:rPr>
              <a:t>https://github.com/AnanyaKastiya/veritas-ecommerce-intelligence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VERITAS | Team Pinkies (Ananya Kastiya &amp; Osheen Dongre) | Accenture Innovation Challenge Round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